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900" b="0" i="0" u="none" strike="noStrike">
                <a:solidFill>
                  <a:srgbClr val="64748B"/>
                </a:solidFill>
                <a:latin typeface="Arial"/>
              </a:rPr>
              <a:t>Combined Annual Value  (SDN 14L + SDV 180L)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Annual Value ($)</c:v>
                </c:pt>
              </c:strCache>
            </c:strRef>
          </c:tx>
          <c:spPr>
            <a:solidFill>
              <a:srgbClr val="1428A0"/>
            </a:solidFill>
            <a:ln w="38100" cap="flat">
              <a:solidFill>
                <a:srgbClr val="1428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8A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28A0"/>
              </a:solidFill>
              <a:ln w="9525" cap="flat">
                <a:solidFill>
                  <a:srgbClr val="1428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 SOP</c:v>
                  </c:pt>
                  <c:pt idx="1">
                    <c:v>3 SOPs</c:v>
                  </c:pt>
                  <c:pt idx="2">
                    <c:v>5 SOPs</c:v>
                  </c:pt>
                  <c:pt idx="3">
                    <c:v>10 SOPs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897840</c:v>
                </c:pt>
                <c:pt idx="1">
                  <c:v>2693520</c:v>
                </c:pt>
                <c:pt idx="2">
                  <c:v>4489200</c:v>
                </c:pt>
                <c:pt idx="3">
                  <c:v>8978400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8A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$&quot;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4358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1F80"/>
          </a:solidFill>
          <a:ln w="12700">
            <a:solidFill>
              <a:srgbClr val="0D1F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43584"/>
            <a:ext cx="9144000" cy="54864"/>
          </a:xfrm>
          <a:prstGeom prst="rect">
            <a:avLst/>
          </a:prstGeom>
          <a:solidFill>
            <a:srgbClr val="C8D8F0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828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SAMSUNG Display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9184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 Innovation  ·  Project Proposal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6766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SOP  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8229600" cy="457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SOP Execution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5A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Production Line Efficiency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30+ hrs / line / month of repetitive SOP execution through AI-driven automation.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validation pilot proposal  ·  SDN (India)  ·  SDV (Vietnam)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India  ·  SDV Vietnam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Registration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09360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4352544"/>
            <a:ext cx="45720" cy="512064"/>
          </a:xfrm>
          <a:prstGeom prst="rect">
            <a:avLst/>
          </a:prstGeom>
          <a:solidFill>
            <a:srgbClr val="C0D0E8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352544"/>
            <a:ext cx="45720" cy="512064"/>
          </a:xfrm>
          <a:prstGeom prst="rect">
            <a:avLst/>
          </a:prstGeom>
          <a:solidFill>
            <a:srgbClr val="C0D0E8"/>
          </a:solidFill>
          <a:ln w="12700">
            <a:solidFill>
              <a:srgbClr val="C0D0E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SOP Agent  —  Automated SOP Execution System  ·  On-Site Validation Pilot Proposal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 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AI SOP Agent — Automated SOP Execution System for Production Line SOPs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Division / Site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SDN — Samsung Display India  ·  SDV — Samsung Display Vietnam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Eliminate manual, repetitive SOP execution time; automatically generate audit logs at every step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Background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SDN 7 lines × 30 hrs/mo = 210 hrs/mo  ·  SDV ~150 lines ≈ 4,500 hrs/mo  →  labor cost $897K+/yr (1 SOP type only)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Pilot Scope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SDN — 1 production line, 1 SOP type, ~3 months  →  Measure execution time vs. manual baseline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Deployment Path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Phase 1: SDN 1-line pilot  →  Phase 2: SDN full expansion (14 lines)  →  Phase 3: SDV planning (data-driven)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ROI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8A0"/>
                          </a:solidFill>
                        </a:rPr>
                        <a:t>1 SOP type: $897K/yr  ·  3 types: $2.7M/yr  ·  10 types: ~$9M/yr  (SDN 14L + SDV 180L, labor reallocation only)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Resources Needed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Project registration  ·  Pilot line access (1 line)  ·  PC installation permission  ·  IE engineer ~20% part-time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Build 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646 automated tests · 92%+ code coverage · Fully offline · Runs on existing line PC — ready for pilot deployment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Approval Request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8A0"/>
                          </a:solidFill>
                        </a:rPr>
                        <a:t>✅  Approve project registration  +  Grant pilot line access  (bounded, reversible commitment)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Hours.  Every Line.  Every Month.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SOP execution is consuming qualified engineer time at every model change.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CHANGE DAY  —  ENGINEER TIMELINE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389120" cy="34747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07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   SOP sequence begins — Step 1 / 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00784"/>
            <a:ext cx="3657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   Step 18 / 40 — focus begins to fade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2926080" cy="347472"/>
          </a:xfrm>
          <a:prstGeom prst="rect">
            <a:avLst/>
          </a:prstGeom>
          <a:solidFill>
            <a:srgbClr val="1E5FB0">
              <a:alpha val="75000"/>
            </a:srgbClr>
          </a:solidFill>
          <a:ln w="12700">
            <a:solidFill>
              <a:srgbClr val="1E5FB0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   Step 31 / 40 — 4th line today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2194560" cy="347472"/>
          </a:xfrm>
          <a:prstGeom prst="rect">
            <a:avLst/>
          </a:prstGeom>
          <a:solidFill>
            <a:srgbClr val="2878CC">
              <a:alpha val="60000"/>
            </a:srgbClr>
          </a:solidFill>
          <a:ln w="12700">
            <a:solidFill>
              <a:srgbClr val="2878C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   Done? (Step 37 or 38?)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~30 hrs / line / month on fixed-script tasks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005840"/>
            <a:ext cx="3383280" cy="8686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207008"/>
            <a:ext cx="384048" cy="38404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61888" y="10607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61888" y="14630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line / per 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1993392"/>
            <a:ext cx="3383280" cy="8686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219456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61888" y="20482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Inevitable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61888" y="24505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at scale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2980944"/>
            <a:ext cx="3383280" cy="8686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3182112"/>
            <a:ext cx="384048" cy="384048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61888" y="30358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61888" y="343814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records — written after the fact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(India):  7 lines  =  210 hrs / month    |    SDV (Vietnam):  ~150 lines  =  4,500 hrs / month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Reads the Screen.  Follows the SOP.  Logs Every Step.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949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existing line PC — fully offline, no new hardware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840480" cy="1810512"/>
          </a:xfrm>
          <a:prstGeom prst="rect">
            <a:avLst/>
          </a:prstGeom>
          <a:solidFill>
            <a:srgbClr val="FFF5F5"/>
          </a:solidFill>
          <a:ln w="12700">
            <a:solidFill>
              <a:srgbClr val="E0C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384048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78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 HUMAN ENGINEER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271016"/>
            <a:ext cx="3840480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89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 Look at the screen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545336"/>
            <a:ext cx="384048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63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 Remember which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819656"/>
            <a:ext cx="3840480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 Click / type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093976"/>
            <a:ext cx="3840480" cy="274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12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 Did I do step 23?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368296"/>
            <a:ext cx="3840480" cy="2743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86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 Fill in log sheet  (later, from memory)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fatigue  ·  pressure  ·  context switching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70832" y="16002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8A0"/>
                </a:solidFill>
              </a:rPr>
              <a:t>▶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846320" y="960120"/>
            <a:ext cx="3840480" cy="1810512"/>
          </a:xfrm>
          <a:prstGeom prst="rect">
            <a:avLst/>
          </a:prstGeom>
          <a:solidFill>
            <a:srgbClr val="F2FFF5"/>
          </a:solidFill>
          <a:ln w="12700">
            <a:solidFill>
              <a:srgbClr val="B0D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960120"/>
            <a:ext cx="3840480" cy="31089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978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 AI SOP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271016"/>
            <a:ext cx="384048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E8F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289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 Vision AI reads screen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1545336"/>
            <a:ext cx="3840480" cy="274320"/>
          </a:xfrm>
          <a:prstGeom prst="rect">
            <a:avLst/>
          </a:prstGeom>
          <a:solidFill>
            <a:srgbClr val="F2FFF5"/>
          </a:solidFill>
          <a:ln w="12700">
            <a:solidFill>
              <a:srgbClr val="F2FF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563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 LLM selects next SOP step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819656"/>
            <a:ext cx="384048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E8F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 Automated input executes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093976"/>
            <a:ext cx="3840480" cy="274320"/>
          </a:xfrm>
          <a:prstGeom prst="rect">
            <a:avLst/>
          </a:prstGeom>
          <a:solidFill>
            <a:srgbClr val="F2FFF5"/>
          </a:solidFill>
          <a:ln w="12700">
            <a:solidFill>
              <a:srgbClr val="F2FF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112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Screen state verified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368296"/>
            <a:ext cx="3840480" cy="274320"/>
          </a:xfrm>
          <a:prstGeom prst="rect">
            <a:avLst/>
          </a:prstGeom>
          <a:solidFill>
            <a:srgbClr val="E8FFF0"/>
          </a:solidFill>
          <a:ln w="12700">
            <a:solidFill>
              <a:srgbClr val="E8FF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386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 Timestamp + screenshot logged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2633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identical every time, zero logging overhead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907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163824"/>
            <a:ext cx="1920240" cy="17190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163824"/>
            <a:ext cx="1920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EYES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buttons,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fields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95728" y="3547872"/>
            <a:ext cx="146304" cy="7315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3163824"/>
            <a:ext cx="1920240" cy="17190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651760" y="3163824"/>
            <a:ext cx="1920240" cy="34747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9748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BRAIN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9748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 (LLM)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9748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zero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9748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out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90288" y="3547872"/>
            <a:ext cx="146304" cy="7315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3163824"/>
            <a:ext cx="1920240" cy="17190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3163824"/>
            <a:ext cx="192024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HANDS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9204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Input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9204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mouse,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9204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state-verified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84848" y="3547872"/>
            <a:ext cx="146304" cy="7315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40880" y="3163824"/>
            <a:ext cx="1920240" cy="1719072"/>
          </a:xfrm>
          <a:prstGeom prst="rect">
            <a:avLst/>
          </a:prstGeom>
          <a:solidFill>
            <a:srgbClr val="EBF5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040880" y="3163824"/>
            <a:ext cx="1920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86600" y="3182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08660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8660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shot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086600" y="4059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Line Added Extends This Cost Forward — Indefinitely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fully-loaded labor estimates  (salary + benefits + overhead)  ·  Sources: SalaryExpert India, Manpower VN Salary Guide 2025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932688"/>
            <a:ext cx="2331720" cy="3273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05840"/>
            <a:ext cx="21488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 BASIS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287780"/>
            <a:ext cx="2148840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SDN  India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518920"/>
            <a:ext cx="2148840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 / hr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940560"/>
            <a:ext cx="21488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209800"/>
            <a:ext cx="2148840" cy="168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SalaryExpert India 2025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2396490"/>
            <a:ext cx="2148840" cy="168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Glassdoor Samsung India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2684780"/>
            <a:ext cx="2148840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 SDV  Vietnam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915920"/>
            <a:ext cx="2148840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0D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 / hr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" y="3337560"/>
            <a:ext cx="21488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3606800"/>
            <a:ext cx="2148840" cy="168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VN 2025 +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4320" y="3793490"/>
            <a:ext cx="2148840" cy="168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employer adj.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4081780"/>
            <a:ext cx="2148840" cy="162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salary + benefits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74320" y="4262120"/>
            <a:ext cx="2148840" cy="162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employer overhead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932688"/>
          <a:ext cx="6309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🇮🇳  SDN — INDIA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7 Lines  (Now)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14 Lines  (Expansion)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Hours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420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</a:rPr>
                        <a:t>$2,310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</a:rPr>
                        <a:t>$4,620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Cost / year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$27,720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$55,440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exposure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14–28 / 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28–56 / 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404872"/>
          <a:ext cx="6309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🇻🇳  SDV — VIETNAM  (est. 120–180 lines *)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120 Lines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180 Lines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Hours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3,600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5,400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/ 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A3E"/>
                          </a:solidFill>
                        </a:rPr>
                        <a:t>$46,800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A3E"/>
                          </a:solidFill>
                        </a:rPr>
                        <a:t>$70,200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Cost / year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$561,600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$842,400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exposure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240–480 / 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360–720 / 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2651760" y="390448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SDV line count estimated from public capacity data: Digitimes Dec 2025, KED Global Sep 2024. Exact internal count not disclosed.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2651760" y="413308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AVOIDABLE COST  (1 SOP type, labor only)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651760" y="4352544"/>
            <a:ext cx="15087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697480" y="43799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 7L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2697480" y="4581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$27,720 / yr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251960" y="4352544"/>
            <a:ext cx="150876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297680" y="43799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14L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297680" y="4581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$55,440 / yr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852160" y="4352544"/>
            <a:ext cx="1508760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5897880" y="43799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120L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897880" y="4581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$561,600 / yr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452360" y="4352544"/>
            <a:ext cx="150876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7498080" y="43799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180L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98080" y="45811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$842,400 / yr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Savings Scale With Lines.  Value Multiplies With SOP Coverage.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reallocation value only — excludes error correction cost and audit compliance savings.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023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SAVINGS — 1 SOP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</a:rPr>
                        <a:t>Scenario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</a:rPr>
                        <a:t>/ Year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🇮🇳  SDN   7 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$27,720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🇮🇳  SDN  14 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$55,440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🇻🇳  SDV 120 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$561,600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🇻🇳  SDV 180 lines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$842,400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D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★  SDN 14 + SDV 180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$897,840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4480560" y="914400"/>
          <a:ext cx="44348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4480560" y="3767328"/>
            <a:ext cx="4434840" cy="566928"/>
          </a:xfrm>
          <a:prstGeom prst="rect">
            <a:avLst/>
          </a:prstGeom>
          <a:solidFill>
            <a:srgbClr val="FFFBEA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80560" y="3767328"/>
            <a:ext cx="4434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1 SOP type</a:t>
            </a:r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2–4 hrs of IE engineer time     </a:t>
            </a:r>
            <a:pPr algn="ctr"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at 10-type scale ≈ $900K / year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3730752"/>
            <a:ext cx="1316736" cy="1170432"/>
          </a:xfrm>
          <a:prstGeom prst="rect">
            <a:avLst/>
          </a:prstGeom>
          <a:solidFill>
            <a:srgbClr val="EBF5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37856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20040" y="411480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20040" y="435254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real-time logs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1664208" y="3730752"/>
            <a:ext cx="1316736" cy="1170432"/>
          </a:xfrm>
          <a:prstGeom prst="rect">
            <a:avLst/>
          </a:prstGeom>
          <a:solidFill>
            <a:srgbClr val="F0FFF4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64208" y="37856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709928" y="411480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709928" y="435254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SOP = 1 JSON file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054096" y="3730752"/>
            <a:ext cx="1316736" cy="1170432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54096" y="378561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099816" y="4114800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SELF-UPGRADING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099816" y="4352544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 file = better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System Is Built and Tested.  Next Step: On-Site Validation.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automated tests passing at 92%+ code coverage — production-grade engineering discipline.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887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18872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layer — tested on line PC UIs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08176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42646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142646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— offline, no cloud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66420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16642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40-step SOP execution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83664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9019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190195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 (state-verified)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1396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213969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timestamp + screenshot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3931920" cy="228600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37744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237744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tests / 92%+ coverage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596896"/>
            <a:ext cx="3931920" cy="228600"/>
          </a:xfrm>
          <a:prstGeom prst="rect">
            <a:avLst/>
          </a:prstGeom>
          <a:solidFill>
            <a:srgbClr val="FFFDE7"/>
          </a:solidFill>
          <a:ln w="12700">
            <a:solidFill>
              <a:srgbClr val="FFFD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6151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26151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line deployment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3931920" cy="228600"/>
          </a:xfrm>
          <a:prstGeom prst="rect">
            <a:avLst/>
          </a:prstGeom>
          <a:solidFill>
            <a:srgbClr val="FFFDE7"/>
          </a:solidFill>
          <a:ln w="12700">
            <a:solidFill>
              <a:srgbClr val="FFFD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85292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285292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KPI measurement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9144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170432"/>
            <a:ext cx="1051560" cy="841248"/>
          </a:xfrm>
          <a:prstGeom prst="rect">
            <a:avLst/>
          </a:prstGeom>
          <a:solidFill>
            <a:srgbClr val="1428A0"/>
          </a:solidFill>
          <a:ln w="12700">
            <a:solidFill>
              <a:srgbClr val="C0C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1188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1444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41848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733288" y="1170432"/>
            <a:ext cx="1051560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C0C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33288" y="1188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1–3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33288" y="1444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Pilot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33288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03136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94576" y="1170432"/>
            <a:ext cx="1051560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C0C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94576" y="1188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4–6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94576" y="1444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Expand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94576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7→14 + SOP×2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64424" y="141732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55864" y="1170432"/>
            <a:ext cx="1051560" cy="841248"/>
          </a:xfrm>
          <a:prstGeom prst="rect">
            <a:avLst/>
          </a:prstGeom>
          <a:solidFill>
            <a:srgbClr val="DCFCE7"/>
          </a:solidFill>
          <a:ln w="12700">
            <a:solidFill>
              <a:srgbClr val="C0C8D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055864" y="1188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7–12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55864" y="1444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Planning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55864" y="16642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0" y="2084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measurable results: ~2–3 months after pilot line deployment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74320" y="3163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WON'T BECOME OBSOLETE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9856"/>
          <a:ext cx="8595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2011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CHANGES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HOW IT ADAPTS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SOP procedure content changes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Edit JSON definition file — no code change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IE engineer ~2 hrs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Line PC software UI updated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Retrain vision model on new screenshots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Vision team ~1 week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Better AI model available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Replace model file — performance improves automatically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 admin ~1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4" name="Shape 51"/>
          <p:cNvSpPr/>
          <p:nvPr/>
        </p:nvSpPr>
        <p:spPr>
          <a:xfrm>
            <a:off x="274320" y="4361688"/>
            <a:ext cx="8595360" cy="676656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11480" y="44074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1148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Vision: YOLO26x  (custom-trained, offline)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11480" y="47640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LLM: IBM Granite Vision  (local, Ollama)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754880" y="4562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OCR: WinRT / EasyOCR  (auto-fallback)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754880" y="47640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GUI: PyQt6  (7-tab monitoring dashboard)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Approval to Begin On-Site Validation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project registration + pilot line access to generate real performance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519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247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Registration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tracking &amp; resource allocation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73936"/>
            <a:ext cx="42519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196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Line — SDN, 1 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0665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environment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2519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5146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Installation Permission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7614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endpoint, existing hardware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42519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20954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Engineer  (part-time ~20%)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formalization for pilot scope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78992"/>
          <a:ext cx="4251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PROCEED 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DEFER  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Near-term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Pilot effort on 1 line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No disruption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Medium-term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Data for scale decision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Current cost continues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Long-term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SDV path + compounding SOP 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Each new line extends cost baseline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663440" y="26517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Proceeding: bounded, reversible commitment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63440" y="287121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Deferring: open-ended cost, compounding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63440" y="3154680"/>
            <a:ext cx="1325880" cy="877824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3218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663440" y="34930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663440" y="3712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 vs. manual baseline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80760" y="3154680"/>
            <a:ext cx="1325880" cy="877824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3218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080760" y="34930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80760" y="3712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with screenshots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498080" y="3154680"/>
            <a:ext cx="1325880" cy="877824"/>
          </a:xfrm>
          <a:prstGeom prst="rect">
            <a:avLst/>
          </a:prstGeom>
          <a:solidFill>
            <a:srgbClr val="EBF5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98080" y="3218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498080" y="34930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Audit Log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98080" y="3712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logging effort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0" y="4114800"/>
            <a:ext cx="9144000" cy="1024128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114800"/>
            <a:ext cx="8595360" cy="1024128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ready. One line and a deployment window is all that is needed to generate the data for the next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1F80"/>
          </a:solidFill>
          <a:ln w="12700">
            <a:solidFill>
              <a:srgbClr val="0D1F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C8D8F0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SAMSUNG Display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" y="548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 Innovation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182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2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  ·  Next Steps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2706624"/>
            <a:ext cx="5486400" cy="36576"/>
          </a:xfrm>
          <a:prstGeom prst="rect">
            <a:avLst/>
          </a:prstGeom>
          <a:solidFill>
            <a:srgbClr val="C8D8F0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712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Route project registration → Manufacturing Engineering team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1638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Assign pilot line → Coordinate with SDN production line supervisor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456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PC access permission → IT ticket + department manager approval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26864"/>
            <a:ext cx="9144000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626864"/>
            <a:ext cx="9144000" cy="4572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Display  ·  Manufacturing Engineering  ·  AI SOP Agent Proposal  ·  Confidential  ·  2026 Q2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2026-03-27T08:03:03Z</dcterms:created>
  <dcterms:modified xsi:type="dcterms:W3CDTF">2026-03-27T08:03:03Z</dcterms:modified>
</cp:coreProperties>
</file>